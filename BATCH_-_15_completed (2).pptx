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PartName="/ppt/slides/slide19.xml" ContentType="application/vnd.openxmlformats-officedocument.presentationml.slide+xml"/>
  <Override PartName="/ppt/slides/slide20.xml" ContentType="application/vnd.openxmlformats-officedocument.presentationml.slide+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75" r:id="rId24"/>
    <p:sldId id="274" r:id="rId23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?><Relationships xmlns="http://schemas.openxmlformats.org/package/2006/relationships"><Relationship Id="rId20" Type="http://schemas.openxmlformats.org/officeDocument/2006/relationships/slide" Target="slides/slide16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  
  
  <Relationship Id="rId23" Type="http://schemas.openxmlformats.org/officeDocument/2006/relationships/slide" Target="slides/slide19.xml"/>
  <Relationship Id="rId24" Type="http://schemas.openxmlformats.org/officeDocument/2006/relationships/slide" Target="slides/slide20.xml"/>
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" name="Google Shape;27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" name="Google Shape;36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" name="Google Shape;45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" name="Google Shape;54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" name="Google Shape;63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" name="Google Shape;73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" name="Google Shape;82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" name="Google Shape;99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8" name="Google Shape;108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7" name="Google Shape;117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6" name="Google Shape;126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5" name="Google Shape;135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4" name="Google Shape;144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3" name="Google Shape;153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Relationship Id="rId4" Type="http://schemas.openxmlformats.org/officeDocument/2006/relationships/image" Target="../media/image5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Relationship Id="rId4" Type="http://schemas.openxmlformats.org/officeDocument/2006/relationships/image" Target="../media/image5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Relationship Id="rId4" Type="http://schemas.openxmlformats.org/officeDocument/2006/relationships/image" Target="../media/image5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5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5.jpg"/><Relationship Id="rId5" Type="http://schemas.openxmlformats.org/officeDocument/2006/relationships/image" Target="../media/image3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Relationship Id="rId4" Type="http://schemas.openxmlformats.org/officeDocument/2006/relationships/image" Target="../media/image5.jpg"/><Relationship Id="rId5" Type="http://schemas.openxmlformats.org/officeDocument/2006/relationships/hyperlink" Target="https://1drv.ms/x/c/6764aba1aa88c2bf/IQDW4pMIBzWoQKfei2iH1nMnAU8uxY3FxnXMDsFeKPsMG8Y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Relationship Id="rId4" Type="http://schemas.openxmlformats.org/officeDocument/2006/relationships/image" Target="../media/image5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Relationship Id="rId4" Type="http://schemas.openxmlformats.org/officeDocument/2006/relationships/image" Target="../media/image5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Relationship Id="rId4" Type="http://schemas.openxmlformats.org/officeDocument/2006/relationships/image" Target="../media/image5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Relationship Id="rId4" Type="http://schemas.openxmlformats.org/officeDocument/2006/relationships/image" Target="../media/image5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Relationship Id="rId4" Type="http://schemas.openxmlformats.org/officeDocument/2006/relationships/image" Target="../media/image5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Relationship Id="rId4" Type="http://schemas.openxmlformats.org/officeDocument/2006/relationships/image" Target="../media/image5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png"/><Relationship Id="rId4" Type="http://schemas.openxmlformats.org/officeDocument/2006/relationships/image" Target="../media/image5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.png"/><Relationship Id="rId4" Type="http://schemas.openxmlformats.org/officeDocument/2006/relationships/image" Target="../media/image5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.png"/><Relationship Id="rId4" Type="http://schemas.openxmlformats.org/officeDocument/2006/relationships/image" Target="../media/image5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6.png"/><Relationship Id="rId4" Type="http://schemas.openxmlformats.org/officeDocument/2006/relationships/image" Target="../media/image5.jpg"/></Relationships>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6.png"/><Relationship Id="rId4" Type="http://schemas.openxmlformats.org/officeDocument/2006/relationships/image" Target="../media/image5.jpg"/></Relationships>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6.png"/><Relationship Id="rId4" Type="http://schemas.openxmlformats.org/officeDocument/2006/relationships/image" Target="../media/image5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BEBEB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ssets/logo_left.png" id="16" name="Google Shape;16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1168" y="237744"/>
            <a:ext cx="1069848" cy="10607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ssets/logo_right.jpg" id="17" name="Google Shape;17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689336" y="237744"/>
            <a:ext cx="1152144" cy="1106424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3"/>
          <p:cNvSpPr/>
          <p:nvPr/>
        </p:nvSpPr>
        <p:spPr>
          <a:xfrm>
            <a:off x="1097280" y="731520"/>
            <a:ext cx="9994392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0066"/>
              </a:buClr>
              <a:buSzPts val="2600"/>
              <a:buFont typeface="Times New Roman"/>
              <a:buNone/>
            </a:pPr>
            <a:r>
              <a:rPr b="1" i="0" lang="en-US" sz="2600" u="none" cap="none" strike="noStrike">
                <a:solidFill>
                  <a:srgbClr val="FF00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K. RAMAKRISHNAN COLLEGE OF TECHNOLOGY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0066"/>
              </a:buClr>
              <a:buSzPts val="2600"/>
              <a:buFont typeface="Times New Roman"/>
              <a:buNone/>
            </a:pPr>
            <a:r>
              <a:rPr b="1" i="0" lang="en-US" sz="2600" u="none" cap="none" strike="noStrike">
                <a:solidFill>
                  <a:srgbClr val="FF00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(AUTONOMOUS), TIRUCHIRAPALLI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915900" y="2516627"/>
            <a:ext cx="103602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b="1" i="0" lang="en-US" sz="19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AI-BASED FAKE/TAMPERED LICENSE PLATE DETECTION USING MACHINE LEARNING</a:t>
            </a:r>
            <a:endParaRPr b="1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915920" y="3489568"/>
            <a:ext cx="61539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000"/>
              <a:buFont typeface="Times New Roman"/>
              <a:buNone/>
            </a:pPr>
            <a:r>
              <a:rPr b="1" i="0" lang="en-US" sz="2000" u="none" cap="none" strike="noStrik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PRESENTED BY,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1930200" y="4199450"/>
            <a:ext cx="4629900" cy="132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MADHUPRITHA P	- 2503811724322049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MAHALAKSHMI S	- 2503811724322050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MUGESH </a:t>
            </a:r>
            <a:r>
              <a:rPr b="1"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 - 2503811724321060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MUKESH KRISHNA S - 2503811724321061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None/>
            </a:pPr>
            <a:r>
              <a:t/>
            </a:r>
            <a:endParaRPr b="1"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219456" y="6446520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Times New Roman"/>
              <a:buNone/>
            </a:pPr>
            <a:r>
              <a:rPr b="0" i="0" lang="en-US" sz="1200" u="none" cap="none" strike="noStrike">
                <a:solidFill>
                  <a:srgbClr val="8B8B8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2026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 txBox="1"/>
          <p:nvPr/>
        </p:nvSpPr>
        <p:spPr>
          <a:xfrm>
            <a:off x="7650000" y="4199450"/>
            <a:ext cx="4300000" cy="132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200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Guided By:</a:t>
            </a:r>
            <a:b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Mrs. M. A. Reetha Jeyarani M.E.,</a:t>
            </a:r>
            <a:br>
              <a:rPr b="1" lang="en-US" sz="2000"/>
            </a:br>
            <a: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Assistant Professor</a:t>
            </a:r>
            <a:b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AI&amp;DS</a:t>
            </a:r>
            <a:endParaRPr b="1"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3"/>
          <p:cNvSpPr txBox="1"/>
          <p:nvPr/>
        </p:nvSpPr>
        <p:spPr>
          <a:xfrm>
            <a:off x="2508900" y="2024025"/>
            <a:ext cx="7501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AGI1242 – Machine Learning Techniques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BEBEB"/>
        </a:soli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ssets/logo_left.png" id="30" name="Google Shape;30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1168" y="237744"/>
            <a:ext cx="1069848" cy="10607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ssets/logo_right.jpg" id="31" name="Google Shape;31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689336" y="237744"/>
            <a:ext cx="1152144" cy="1106424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4"/>
          <p:cNvSpPr/>
          <p:nvPr/>
        </p:nvSpPr>
        <p:spPr>
          <a:xfrm>
            <a:off x="1371600" y="384048"/>
            <a:ext cx="9445752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Times New Roman"/>
              <a:buNone/>
            </a:pPr>
            <a:r>
              <a:rPr b="1" i="0" lang="en-US" sz="2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OBJECTIVE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4"/>
          <p:cNvSpPr/>
          <p:nvPr/>
        </p:nvSpPr>
        <p:spPr>
          <a:xfrm>
            <a:off x="1271015" y="1500695"/>
            <a:ext cx="10607100" cy="493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41300" lvl="0" marL="22860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Char char="▪"/>
            </a:pPr>
            <a:r>
              <a:rPr b="0" i="0" lang="en-US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Develop an AI-based system that detects vehicle license plates and identifies potentially fake or tampered plates.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41300" lvl="0" marL="228600" marR="0" rtl="0" algn="l">
              <a:lnSpc>
                <a:spcPct val="112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Char char="▪"/>
            </a:pPr>
            <a:r>
              <a:rPr b="0" i="0" lang="en-US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Detect license plates from vehicle images or video using computer vision.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41300" lvl="0" marL="228600" marR="0" rtl="0" algn="l">
              <a:lnSpc>
                <a:spcPct val="112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Char char="▪"/>
            </a:pPr>
            <a:r>
              <a:rPr b="0" i="0" lang="en-US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Extract plate numbers accurately using Optical Character Recognition (OCR).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41300" lvl="0" marL="228600" marR="0" rtl="0" algn="l">
              <a:lnSpc>
                <a:spcPct val="112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Char char="▪"/>
            </a:pPr>
            <a:r>
              <a:rPr b="0" i="0" lang="en-US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Analyse visual and textual characteristics of the plate for inconsistencies.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41300" lvl="0" marL="228600" marR="0" rtl="0" algn="l">
              <a:lnSpc>
                <a:spcPct val="112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Char char="▪"/>
            </a:pPr>
            <a:r>
              <a:rPr b="0" i="0" lang="en-US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Identify possible alterations such as irregular spacing, fonts or physical tampering.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41300" lvl="0" marL="228600" marR="0" rtl="0" algn="l">
              <a:lnSpc>
                <a:spcPct val="112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Char char="▪"/>
            </a:pPr>
            <a:r>
              <a:rPr b="0" i="0" lang="en-US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Classify each plate as Genuine, Suspicious or Tampered and generate a risk/confidence score.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BEBEB"/>
        </a:solid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ssets/logo_left.png" id="39" name="Google Shape;39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1168" y="237744"/>
            <a:ext cx="1069848" cy="10607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ssets/logo_right.jpg" id="40" name="Google Shape;40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689336" y="237744"/>
            <a:ext cx="1152144" cy="1106424"/>
          </a:xfrm>
          <a:prstGeom prst="rect">
            <a:avLst/>
          </a:prstGeom>
          <a:noFill/>
          <a:ln>
            <a:noFill/>
          </a:ln>
        </p:spPr>
      </p:pic>
      <p:sp>
        <p:nvSpPr>
          <p:cNvPr id="41" name="Google Shape;41;p5"/>
          <p:cNvSpPr/>
          <p:nvPr/>
        </p:nvSpPr>
        <p:spPr>
          <a:xfrm>
            <a:off x="1371600" y="384048"/>
            <a:ext cx="9445752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Times New Roman"/>
              <a:buNone/>
            </a:pPr>
            <a:r>
              <a:rPr b="1" i="0" lang="en-US" sz="2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IDENTIFICATION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5"/>
          <p:cNvSpPr/>
          <p:nvPr/>
        </p:nvSpPr>
        <p:spPr>
          <a:xfrm>
            <a:off x="1271015" y="1667445"/>
            <a:ext cx="10607100" cy="493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34950" lvl="0" marL="22860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Char char="▪"/>
            </a:pPr>
            <a:r>
              <a:rPr b="0" i="0" lang="en-US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Fake or tampered license plates can be used to conceal vehicle identity and support vehicle-related crimes.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34950" lvl="0" marL="228600" marR="0" rtl="0" algn="l">
              <a:lnSpc>
                <a:spcPct val="112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Char char="▪"/>
            </a:pPr>
            <a:r>
              <a:rPr b="0" i="0" lang="en-US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Manual verification of large numbers of vehicles is time-consuming and difficult for enforcement teams.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34950" lvl="0" marL="228600" marR="0" rtl="0" algn="l">
              <a:lnSpc>
                <a:spcPct val="112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Char char="▪"/>
            </a:pPr>
            <a:r>
              <a:rPr b="0" i="0" lang="en-US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Existing ALPR systems mainly detect and read plates; they do not verify whether a plate is genuine.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34950" lvl="0" marL="228600" marR="0" rtl="0" algn="l">
              <a:lnSpc>
                <a:spcPct val="112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Char char="▪"/>
            </a:pPr>
            <a:r>
              <a:rPr b="0" i="0" lang="en-US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Practical challenges include poor lighting, viewing-angle variation, motion blur and low-resolution images.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34950" lvl="0" marL="228600" marR="0" rtl="0" algn="l">
              <a:lnSpc>
                <a:spcPct val="112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Char char="▪"/>
            </a:pPr>
            <a:r>
              <a:rPr b="0" i="0" lang="en-US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Further challenges: dirty or damaged plates, deliberately altered characters, and differing plate formats.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34950" lvl="0" marL="228600" marR="0" rtl="0" algn="l">
              <a:lnSpc>
                <a:spcPct val="112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Char char="▪"/>
            </a:pPr>
            <a:r>
              <a:rPr b="0" i="0" lang="en-US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 automated tampering-analysis layer can support faster, more consistent preliminary screening.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BEBEB"/>
        </a:solid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ssets/logo_left.png" id="48" name="Google Shape;48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1168" y="237744"/>
            <a:ext cx="1069848" cy="10607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ssets/logo_right.jpg" id="49" name="Google Shape;49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689336" y="237744"/>
            <a:ext cx="1152144" cy="1106424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6"/>
          <p:cNvSpPr/>
          <p:nvPr/>
        </p:nvSpPr>
        <p:spPr>
          <a:xfrm>
            <a:off x="1371600" y="384048"/>
            <a:ext cx="9445752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Times New Roman"/>
              <a:buNone/>
            </a:pPr>
            <a:r>
              <a:rPr b="1" i="0" lang="en-US" sz="2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PROPOSED SYSTEM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6"/>
          <p:cNvSpPr/>
          <p:nvPr/>
        </p:nvSpPr>
        <p:spPr>
          <a:xfrm>
            <a:off x="1371590" y="1729995"/>
            <a:ext cx="10607100" cy="493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54000" lvl="0" marL="22860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Char char="▪"/>
            </a:pPr>
            <a:r>
              <a:rPr b="0" i="0" lang="en-US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Vehicle image or video is captured and preprocessed to improve clarity.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4000" lvl="0" marL="228600" marR="0" rtl="0" algn="l">
              <a:lnSpc>
                <a:spcPct val="112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Char char="▪"/>
            </a:pPr>
            <a:r>
              <a:rPr b="0" i="0" lang="en-US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YOLO detects and localises the license plate; the plate region is cropped and enhanced.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4000" lvl="0" marL="228600" marR="0" rtl="0" algn="l">
              <a:lnSpc>
                <a:spcPct val="112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Char char="▪"/>
            </a:pPr>
            <a:r>
              <a:rPr b="0" i="0" lang="en-US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OCR extracts the alphanumeric characters from the detected plate.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4000" lvl="0" marL="228600" marR="0" rtl="0" algn="l">
              <a:lnSpc>
                <a:spcPct val="112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Char char="▪"/>
            </a:pPr>
            <a:r>
              <a:rPr b="0" i="0" lang="en-US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CNN and XGBoost analyse visual and structured features to detect tampering.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4000" lvl="0" marL="228600" marR="0" rtl="0" algn="l">
              <a:lnSpc>
                <a:spcPct val="112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Char char="▪"/>
            </a:pPr>
            <a:r>
              <a:rPr b="0" i="0" lang="en-US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Output: the plate is classified as Genuine, Suspicious or Tampered.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4000" lvl="0" marL="228600" marR="0" rtl="0" algn="l">
              <a:lnSpc>
                <a:spcPct val="112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Char char="▪"/>
            </a:pPr>
            <a:r>
              <a:rPr b="0" i="0" lang="en-US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risk/confidence score and supporting reasons are shown on a dashboard/report.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BEBEB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ssets/logo_left.png" id="57" name="Google Shape;57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1168" y="237744"/>
            <a:ext cx="1069848" cy="10607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ssets/logo_right.jpg" id="58" name="Google Shape;58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689336" y="237744"/>
            <a:ext cx="1152144" cy="1106424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7"/>
          <p:cNvSpPr/>
          <p:nvPr/>
        </p:nvSpPr>
        <p:spPr>
          <a:xfrm>
            <a:off x="1257288" y="237748"/>
            <a:ext cx="9445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FLOW DIAGRAM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0" name="Google Shape;60;p7" title="ChatGPT Image Aug 20, 2026, 09_33_35 PM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537313" y="923550"/>
            <a:ext cx="5117376" cy="54044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BEBEB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ssets/logo_left.png" id="66" name="Google Shape;66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1168" y="237744"/>
            <a:ext cx="1069848" cy="10607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ssets/logo_right.jpg" id="67" name="Google Shape;67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689336" y="237744"/>
            <a:ext cx="1152144" cy="1106424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8"/>
          <p:cNvSpPr/>
          <p:nvPr/>
        </p:nvSpPr>
        <p:spPr>
          <a:xfrm>
            <a:off x="1371600" y="384048"/>
            <a:ext cx="9445752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Times New Roman"/>
              <a:buNone/>
            </a:pPr>
            <a:r>
              <a:rPr b="1" i="0" lang="en-US" sz="2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LITERATURE SURVEY – 2023-2026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8"/>
          <p:cNvSpPr/>
          <p:nvPr/>
        </p:nvSpPr>
        <p:spPr>
          <a:xfrm>
            <a:off x="777240" y="1417320"/>
            <a:ext cx="10607040" cy="4937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457200" marR="0" rtl="0" algn="l">
              <a:lnSpc>
                <a:spcPct val="112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8"/>
          <p:cNvSpPr txBox="1"/>
          <p:nvPr/>
        </p:nvSpPr>
        <p:spPr>
          <a:xfrm>
            <a:off x="2174827" y="2828700"/>
            <a:ext cx="73731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u="sng">
                <a:solidFill>
                  <a:schemeClr val="hlink"/>
                </a:solidFill>
                <a:hlinkClick r:id="rId5"/>
              </a:rPr>
              <a:t>https://1drv.ms/x/c/6764aba1aa88c2bf/IQDW4pMIBzWoQKfei2iH1nMnAU8uxY3FxnXMDsFeKPsMG8Y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BEBEB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ssets/logo_left.png" id="76" name="Google Shape;7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1168" y="237744"/>
            <a:ext cx="1069848" cy="10607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ssets/logo_right.jpg" id="77" name="Google Shape;77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689336" y="237744"/>
            <a:ext cx="1152144" cy="1106424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9"/>
          <p:cNvSpPr/>
          <p:nvPr/>
        </p:nvSpPr>
        <p:spPr>
          <a:xfrm>
            <a:off x="1371600" y="384048"/>
            <a:ext cx="9445752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Times New Roman"/>
              <a:buNone/>
            </a:pPr>
            <a:r>
              <a:rPr b="1" i="0" lang="en-US" sz="2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RESEARCH GAP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9"/>
          <p:cNvSpPr/>
          <p:nvPr/>
        </p:nvSpPr>
        <p:spPr>
          <a:xfrm>
            <a:off x="1048240" y="1709145"/>
            <a:ext cx="10607100" cy="493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47650" lvl="0" marL="22860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Times New Roman"/>
              <a:buChar char="▪"/>
            </a:pPr>
            <a:r>
              <a:rPr b="0" i="0" lang="en-US" sz="21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Most existing ALPR research focuses on detecting and reading the plate number, not on verifying authenticity.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47650" lvl="0" marL="228600" marR="0" rtl="0" algn="l">
              <a:lnSpc>
                <a:spcPct val="112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Times New Roman"/>
              <a:buChar char="▪"/>
            </a:pPr>
            <a:r>
              <a:rPr b="0" i="0" lang="en-US" sz="21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Few studies combine visual tampering cues with structured/database checks in a single pipeline.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47650" lvl="0" marL="228600" marR="0" rtl="0" algn="l">
              <a:lnSpc>
                <a:spcPct val="112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Times New Roman"/>
              <a:buChar char="▪"/>
            </a:pPr>
            <a:r>
              <a:rPr b="0" i="0" lang="en-US" sz="21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Detection accuracy still degrades under poor lighting, extreme angles, motion blur and low resolution.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47650" lvl="0" marL="228600" marR="0" rtl="0" algn="l">
              <a:lnSpc>
                <a:spcPct val="112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Times New Roman"/>
              <a:buChar char="▪"/>
            </a:pPr>
            <a:r>
              <a:rPr b="0" i="0" lang="en-US" sz="21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Most systems output a binary genuine/fake label rather than a graded, explainable risk score.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47650" lvl="0" marL="228600" marR="0" rtl="0" algn="l">
              <a:lnSpc>
                <a:spcPct val="112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Times New Roman"/>
              <a:buChar char="▪"/>
            </a:pPr>
            <a:r>
              <a:rPr b="0" i="0" lang="en-US" sz="21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project adds a dedicated tampering-analysis and risk-scoring layer on top of standard plate detection and OCR.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BEBEB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ssets/logo_left.png" id="85" name="Google Shape;85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1168" y="237744"/>
            <a:ext cx="1069848" cy="10607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ssets/logo_right.jpg" id="86" name="Google Shape;86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689336" y="237744"/>
            <a:ext cx="1152144" cy="1106424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0"/>
          <p:cNvSpPr/>
          <p:nvPr/>
        </p:nvSpPr>
        <p:spPr>
          <a:xfrm>
            <a:off x="1371600" y="384048"/>
            <a:ext cx="9445752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Times New Roman"/>
              <a:buNone/>
            </a:pPr>
            <a:r>
              <a:rPr b="1" i="0" lang="en-US" sz="2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RESEARCH METHODOLOGY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0"/>
          <p:cNvSpPr/>
          <p:nvPr/>
        </p:nvSpPr>
        <p:spPr>
          <a:xfrm>
            <a:off x="1139680" y="1646620"/>
            <a:ext cx="10607100" cy="493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Times New Roman"/>
              <a:buNone/>
            </a:pPr>
            <a:r>
              <a:rPr b="0" i="0" lang="en-US" sz="195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 </a:t>
            </a:r>
            <a:r>
              <a:rPr b="1" i="0" lang="en-US" sz="195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Collection</a:t>
            </a:r>
            <a:r>
              <a:rPr b="0" i="0" lang="en-US" sz="195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- gather labelled vehicle images/video with genuine and tampered plate examples.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Times New Roman"/>
              <a:buNone/>
            </a:pPr>
            <a:r>
              <a:rPr b="0" i="0" lang="en-US" sz="195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</a:t>
            </a:r>
            <a:r>
              <a:rPr b="1" i="0" lang="en-US" sz="195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Preprocessing</a:t>
            </a:r>
            <a:r>
              <a:rPr b="0" i="0" lang="en-US" sz="195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- resize, denoise and enhance contrast to improve detection quality.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Times New Roman"/>
              <a:buNone/>
            </a:pPr>
            <a:r>
              <a:rPr b="0" i="0" lang="en-US" sz="195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 </a:t>
            </a:r>
            <a:r>
              <a:rPr b="1" i="0" lang="en-US" sz="195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Plate Detection (YOLO)</a:t>
            </a:r>
            <a:r>
              <a:rPr b="0" i="0" lang="en-US" sz="195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- detects and localises the plate, returning a bounding box for cropping.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Times New Roman"/>
              <a:buNone/>
            </a:pPr>
            <a:r>
              <a:rPr b="0" i="0" lang="en-US" sz="195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4. </a:t>
            </a:r>
            <a:r>
              <a:rPr b="1" i="0" lang="en-US" sz="195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Character Recognition (OCR) </a:t>
            </a:r>
            <a:r>
              <a:rPr b="0" i="0" lang="en-US" sz="195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reads the alphanumeric characters from the cropped, enhanced plate.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Times New Roman"/>
              <a:buNone/>
            </a:pPr>
            <a:r>
              <a:rPr b="0" i="0" lang="en-US" sz="195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5.</a:t>
            </a:r>
            <a:r>
              <a:rPr b="1" i="0" lang="en-US" sz="195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Feature Extraction (CNN)</a:t>
            </a:r>
            <a:r>
              <a:rPr b="0" i="0" lang="en-US" sz="195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- analyses visual characteristics such as spacing, font and artifacts for signs of tampering.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Times New Roman"/>
              <a:buNone/>
            </a:pPr>
            <a:r>
              <a:rPr b="0" i="0" lang="en-US" sz="195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6. </a:t>
            </a:r>
            <a:r>
              <a:rPr b="1" i="0" lang="en-US" sz="195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Classification (XGBoost) </a:t>
            </a:r>
            <a:r>
              <a:rPr b="0" i="0" lang="en-US" sz="195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combines visual and structured features to classify the plate.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Times New Roman"/>
              <a:buNone/>
            </a:pPr>
            <a:r>
              <a:rPr b="0" i="0" lang="en-US" sz="195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7. </a:t>
            </a:r>
            <a:r>
              <a:rPr b="1" i="0" lang="en-US" sz="195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Output </a:t>
            </a:r>
            <a:r>
              <a:rPr b="0" i="0" lang="en-US" sz="195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Genuine, Suspicious or Tampered, with a confidence/risk score for the dashboard.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BEBEB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ssets/logo_left.png" id="93" name="Google Shape;93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1168" y="237744"/>
            <a:ext cx="1069848" cy="10607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ssets/logo_right.jpg" id="94" name="Google Shape;94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689336" y="237744"/>
            <a:ext cx="1152144" cy="1106424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1"/>
          <p:cNvSpPr/>
          <p:nvPr/>
        </p:nvSpPr>
        <p:spPr>
          <a:xfrm>
            <a:off x="1371600" y="384048"/>
            <a:ext cx="9445752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Times New Roman"/>
              <a:buNone/>
            </a:pPr>
            <a:r>
              <a:rPr b="1" i="0" lang="en-US" sz="2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MODULES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1"/>
          <p:cNvSpPr/>
          <p:nvPr/>
        </p:nvSpPr>
        <p:spPr>
          <a:xfrm>
            <a:off x="1371590" y="1781920"/>
            <a:ext cx="10607100" cy="493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45720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         </a:t>
            </a:r>
            <a:r>
              <a:rPr i="0" lang="en-US" sz="2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system is built using 5 modules:</a:t>
            </a:r>
            <a:endParaRPr sz="2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93700" lvl="0" marL="1371600" marR="0" rtl="0" algn="l">
              <a:lnSpc>
                <a:spcPct val="112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Times New Roman"/>
              <a:buChar char="●"/>
            </a:pPr>
            <a:r>
              <a:rPr i="0" lang="en-US" sz="2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Module 1 - Image Acquisition &amp; Preprocessing</a:t>
            </a:r>
            <a:endParaRPr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93700" lvl="0" marL="137160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Times New Roman"/>
              <a:buChar char="●"/>
            </a:pPr>
            <a:r>
              <a:rPr i="0" lang="en-US" sz="2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Module 2 - License Plate Detection</a:t>
            </a:r>
            <a:endParaRPr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93700" lvl="0" marL="137160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Times New Roman"/>
              <a:buChar char="●"/>
            </a:pPr>
            <a:r>
              <a:rPr i="0" lang="en-US" sz="2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Module 3 - License Plate Recognition</a:t>
            </a:r>
            <a:endParaRPr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93700" lvl="0" marL="137160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Times New Roman"/>
              <a:buChar char="●"/>
            </a:pPr>
            <a:r>
              <a:rPr i="0" lang="en-US" sz="2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Module 4 - Fake/Tampering Detection</a:t>
            </a:r>
            <a:endParaRPr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93700" lvl="0" marL="137160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Times New Roman"/>
              <a:buChar char="●"/>
            </a:pPr>
            <a:r>
              <a:rPr i="0" lang="en-US" sz="2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Module 5 - Risk Analysis &amp; Dashboard</a:t>
            </a:r>
            <a:endParaRPr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BEBEB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ssets/logo_left.png" id="102" name="Google Shape;102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1168" y="237744"/>
            <a:ext cx="1069848" cy="10607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ssets/logo_right.jpg" id="103" name="Google Shape;103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689336" y="237744"/>
            <a:ext cx="1152144" cy="1106424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2"/>
          <p:cNvSpPr/>
          <p:nvPr/>
        </p:nvSpPr>
        <p:spPr>
          <a:xfrm>
            <a:off x="1371600" y="384048"/>
            <a:ext cx="9445752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MODULE 1 - IMAGE ACQUISITION &amp; PREPROCESSING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2"/>
          <p:cNvSpPr/>
          <p:nvPr/>
        </p:nvSpPr>
        <p:spPr>
          <a:xfrm>
            <a:off x="1465123" y="1688299"/>
            <a:ext cx="8610000" cy="40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60350" lvl="0" marL="22860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Times New Roman"/>
              <a:buChar char="▪"/>
            </a:pPr>
            <a:r>
              <a:rPr b="0" i="0" lang="en-US" sz="2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Capture vehicle image or video through a camera feed or uploaded file.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60350" lvl="0" marL="228600" marR="0" rtl="0" algn="l">
              <a:lnSpc>
                <a:spcPct val="112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Times New Roman"/>
              <a:buChar char="▪"/>
            </a:pPr>
            <a:r>
              <a:rPr b="0" i="0" lang="en-US" sz="2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Resize images and remove noise for consistent input quality.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60350" lvl="0" marL="228600" marR="0" rtl="0" algn="l">
              <a:lnSpc>
                <a:spcPct val="112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Times New Roman"/>
              <a:buChar char="▪"/>
            </a:pPr>
            <a:r>
              <a:rPr b="0" i="0" lang="en-US" sz="2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Enhance contrast to improve visibility of the plate region.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60350" lvl="0" marL="228600" marR="0" rtl="0" algn="l">
              <a:lnSpc>
                <a:spcPct val="112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Times New Roman"/>
              <a:buChar char="▪"/>
            </a:pPr>
            <a:r>
              <a:rPr b="0" i="0" lang="en-US" sz="2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 the improved image for the plate-detection stage.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BEBEB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ssets/logo_left.png" id="111" name="Google Shape;111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1168" y="237744"/>
            <a:ext cx="1069848" cy="10607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ssets/logo_right.jpg" id="112" name="Google Shape;112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689336" y="237744"/>
            <a:ext cx="1152144" cy="1106424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3"/>
          <p:cNvSpPr/>
          <p:nvPr/>
        </p:nvSpPr>
        <p:spPr>
          <a:xfrm>
            <a:off x="1371600" y="384048"/>
            <a:ext cx="9445752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MODULE 2 - LICENSE PLATE DETECTION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3"/>
          <p:cNvSpPr/>
          <p:nvPr/>
        </p:nvSpPr>
        <p:spPr>
          <a:xfrm>
            <a:off x="1371590" y="1667470"/>
            <a:ext cx="10607100" cy="493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60350" lvl="0" marL="22860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Times New Roman"/>
              <a:buChar char="▪"/>
            </a:pPr>
            <a:r>
              <a:rPr b="0" i="0" lang="en-US" sz="2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 YOLO to detect the license plate within the vehicle image.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60350" lvl="0" marL="228600" marR="0" rtl="0" algn="l">
              <a:lnSpc>
                <a:spcPct val="112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Times New Roman"/>
              <a:buChar char="▪"/>
            </a:pPr>
            <a:r>
              <a:rPr b="0" i="0" lang="en-US" sz="2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Generate a bounding box around the detected plate region.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60350" lvl="0" marL="228600" marR="0" rtl="0" algn="l">
              <a:lnSpc>
                <a:spcPct val="112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Times New Roman"/>
              <a:buChar char="▪"/>
            </a:pPr>
            <a:r>
              <a:rPr b="0" i="0" lang="en-US" sz="2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Crop the plate region for further processing.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60350" lvl="0" marL="228600" marR="0" rtl="0" algn="l">
              <a:lnSpc>
                <a:spcPct val="112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Times New Roman"/>
              <a:buChar char="▪"/>
            </a:pPr>
            <a:r>
              <a:rPr b="0" i="0" lang="en-US" sz="2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Handle multiple plates or partial occlusion where present.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BEBEB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ssets/logo_left.png" id="120" name="Google Shape;120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1168" y="237744"/>
            <a:ext cx="1069848" cy="10607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ssets/logo_right.jpg" id="121" name="Google Shape;121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689336" y="237744"/>
            <a:ext cx="1152144" cy="1106424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4"/>
          <p:cNvSpPr/>
          <p:nvPr/>
        </p:nvSpPr>
        <p:spPr>
          <a:xfrm>
            <a:off x="1371600" y="384048"/>
            <a:ext cx="9445752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MODULE 3 - LICENSE PLATE RECOGNITION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4"/>
          <p:cNvSpPr/>
          <p:nvPr/>
        </p:nvSpPr>
        <p:spPr>
          <a:xfrm>
            <a:off x="1371590" y="1688295"/>
            <a:ext cx="10607100" cy="493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60350" lvl="0" marL="22860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Times New Roman"/>
              <a:buChar char="▪"/>
            </a:pPr>
            <a:r>
              <a:rPr b="0" i="0" lang="en-US" sz="2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Apply OCR to the cropped plate to extract characters.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60350" lvl="0" marL="228600" marR="0" rtl="0" algn="l">
              <a:lnSpc>
                <a:spcPct val="112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Times New Roman"/>
              <a:buChar char="▪"/>
            </a:pPr>
            <a:r>
              <a:rPr b="0" i="0" lang="en-US" sz="2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Convert extracted characters into machine-readable text.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60350" lvl="0" marL="228600" marR="0" rtl="0" algn="l">
              <a:lnSpc>
                <a:spcPct val="112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Times New Roman"/>
              <a:buChar char="▪"/>
            </a:pPr>
            <a:r>
              <a:rPr b="0" i="0" lang="en-US" sz="2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Validate the recognised text against expected plate-format rules.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60350" lvl="0" marL="228600" marR="0" rtl="0" algn="l">
              <a:lnSpc>
                <a:spcPct val="112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Times New Roman"/>
              <a:buChar char="▪"/>
            </a:pPr>
            <a:r>
              <a:rPr b="0" i="0" lang="en-US" sz="2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Pass the validated text forward for tampering analysis.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BEBEB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ssets/logo_left.png" id="129" name="Google Shape;129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1168" y="237744"/>
            <a:ext cx="1069848" cy="10607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ssets/logo_right.jpg" id="130" name="Google Shape;130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689336" y="237744"/>
            <a:ext cx="1152144" cy="1106424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5"/>
          <p:cNvSpPr/>
          <p:nvPr/>
        </p:nvSpPr>
        <p:spPr>
          <a:xfrm>
            <a:off x="1371600" y="384048"/>
            <a:ext cx="9445752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MODULE 4 - FAKE/TAMPERING DETECTION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5"/>
          <p:cNvSpPr/>
          <p:nvPr/>
        </p:nvSpPr>
        <p:spPr>
          <a:xfrm>
            <a:off x="1069065" y="1688320"/>
            <a:ext cx="10607100" cy="493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60350" lvl="0" marL="22860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Times New Roman"/>
              <a:buChar char="▪"/>
            </a:pPr>
            <a:r>
              <a:rPr b="0" i="0" lang="en-US" sz="2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Extract visual features using a CNN and structured features (spacing, font, format).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60350" lvl="0" marL="228600" marR="0" rtl="0" algn="l">
              <a:lnSpc>
                <a:spcPct val="112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Times New Roman"/>
              <a:buChar char="▪"/>
            </a:pPr>
            <a:r>
              <a:rPr b="0" i="0" lang="en-US" sz="2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 XGBoost to combine these features for classification.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60350" lvl="0" marL="228600" marR="0" rtl="0" algn="l">
              <a:lnSpc>
                <a:spcPct val="112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Times New Roman"/>
              <a:buChar char="▪"/>
            </a:pPr>
            <a:r>
              <a:rPr b="0" i="0" lang="en-US" sz="2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Detect character-spacing and format inconsistencies that suggest alteration.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60350" lvl="0" marL="228600" marR="0" rtl="0" algn="l">
              <a:lnSpc>
                <a:spcPct val="112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Times New Roman"/>
              <a:buChar char="▪"/>
            </a:pPr>
            <a:r>
              <a:rPr b="0" i="0" lang="en-US" sz="2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Classify the plate as Genuine, Suspicious or Tampered.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BEBEB"/>
        </a:soli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ssets/logo_left.png" id="138" name="Google Shape;138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1168" y="237744"/>
            <a:ext cx="1069848" cy="10607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ssets/logo_right.jpg" id="139" name="Google Shape;139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689336" y="237744"/>
            <a:ext cx="1152144" cy="1106424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6"/>
          <p:cNvSpPr/>
          <p:nvPr/>
        </p:nvSpPr>
        <p:spPr>
          <a:xfrm>
            <a:off x="1371600" y="384048"/>
            <a:ext cx="9445752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MODULE 5 - RISK ANALYSIS &amp; DASHBOARD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6"/>
          <p:cNvSpPr/>
          <p:nvPr/>
        </p:nvSpPr>
        <p:spPr>
          <a:xfrm>
            <a:off x="1271015" y="1646620"/>
            <a:ext cx="10607100" cy="493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66700" lvl="0" marL="22860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Times New Roman"/>
              <a:buChar char="▪"/>
            </a:pPr>
            <a:r>
              <a:rPr b="0" i="0" lang="en-US" sz="2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Display the classification result and confidence/risk score.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66700" lvl="0" marL="228600" marR="0" rtl="0" algn="l">
              <a:lnSpc>
                <a:spcPct val="112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Times New Roman"/>
              <a:buChar char="▪"/>
            </a:pPr>
            <a:r>
              <a:rPr b="0" i="0" lang="en-US" sz="2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Highlight the specific reasons flagged as suspicious.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66700" lvl="0" marL="228600" marR="0" rtl="0" algn="l">
              <a:lnSpc>
                <a:spcPct val="112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Times New Roman"/>
              <a:buChar char="▪"/>
            </a:pPr>
            <a:r>
              <a:rPr b="0" i="0" lang="en-US" sz="2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Maintain a detection history for review.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66700" lvl="0" marL="228600" marR="0" rtl="0" algn="l">
              <a:lnSpc>
                <a:spcPct val="112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Times New Roman"/>
              <a:buChar char="▪"/>
            </a:pPr>
            <a:r>
              <a:rPr b="0" i="0" lang="en-US" sz="2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Present alerts and reports in a simple, non-technical dashboard.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BEBEB"/>
        </a:soli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ssets/logo_left.png" id="147" name="Google Shape;147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1168" y="237744"/>
            <a:ext cx="1069848" cy="10607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ssets/logo_right.jpg" id="148" name="Google Shape;148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689336" y="237744"/>
            <a:ext cx="1152144" cy="1106424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7"/>
          <p:cNvSpPr/>
          <p:nvPr/>
        </p:nvSpPr>
        <p:spPr>
          <a:xfrm>
            <a:off x="1371600" y="384048"/>
            <a:ext cx="9445752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Times New Roman"/>
              <a:buNone/>
            </a:pPr>
            <a:r>
              <a:rPr b="1" i="0" lang="en-US" sz="2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CONCLUSION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7"/>
          <p:cNvSpPr/>
          <p:nvPr/>
        </p:nvSpPr>
        <p:spPr>
          <a:xfrm>
            <a:off x="790915" y="1479845"/>
            <a:ext cx="10607100" cy="493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38125" lvl="0" marL="22860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Times New Roman"/>
              <a:buChar char="▪"/>
            </a:pPr>
            <a:r>
              <a:rPr b="0" i="0" lang="en-US" sz="19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proposed AI-Based Fake/Tampered License Plate Detection System combines computer vision, deep learning, OCR and machine learning.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38125" lvl="0" marL="228600" marR="0" rtl="0" algn="l">
              <a:lnSpc>
                <a:spcPct val="112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Times New Roman"/>
              <a:buChar char="▪"/>
            </a:pPr>
            <a:r>
              <a:rPr b="0" i="0" lang="en-US" sz="19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Unlike conventional ALPR systems that mainly read plate numbers, this project adds an authenticity/tampering-analysis stage.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38125" lvl="0" marL="228600" marR="0" rtl="0" algn="l">
              <a:lnSpc>
                <a:spcPct val="112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Times New Roman"/>
              <a:buChar char="▪"/>
            </a:pPr>
            <a:r>
              <a:rPr b="0" i="0" lang="en-US" sz="19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system classifies plates as Genuine, Suspicious or Tampered and provides a risk/confidence score.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38125" lvl="0" marL="228600" marR="0" rtl="0" algn="l">
              <a:lnSpc>
                <a:spcPct val="112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Times New Roman"/>
              <a:buChar char="▪"/>
            </a:pPr>
            <a:r>
              <a:rPr b="0" i="0" lang="en-US" sz="19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can support traffic monitoring, surveillance and vehicle-security applications as a decision-support tool.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38125" lvl="0" marL="228600" marR="0" rtl="0" algn="l">
              <a:lnSpc>
                <a:spcPct val="112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Times New Roman"/>
              <a:buChar char="▪"/>
            </a:pPr>
            <a:r>
              <a:rPr b="0" i="0" lang="en-US" sz="19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system does not legally prove a plate is fake from an image alone; results are potentially fake/tampered indicators only.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38125" lvl="0" marL="228600" marR="0" rtl="0" algn="l">
              <a:lnSpc>
                <a:spcPct val="112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Times New Roman"/>
              <a:buChar char="▪"/>
            </a:pPr>
            <a:r>
              <a:rPr b="0" i="0" lang="en-US" sz="19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Future work can extend the model to larger datasets, additional plate formats and multilingual character sets.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BEBEB"/>
        </a:solid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ssets/logo_left.png" id="156" name="Google Shape;156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1168" y="237744"/>
            <a:ext cx="1069848" cy="10607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ssets/logo_right.jpg" id="157" name="Google Shape;157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689336" y="237744"/>
            <a:ext cx="1152144" cy="1106424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8"/>
          <p:cNvSpPr/>
          <p:nvPr/>
        </p:nvSpPr>
        <p:spPr>
          <a:xfrm>
            <a:off x="1371600" y="3017520"/>
            <a:ext cx="9445752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Times New Roman"/>
              <a:buNone/>
            </a:pPr>
            <a:r>
              <a:rPr b="1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THANK YOU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BEBEB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ssets/logo_left.png" id="85" name="Google Shape;85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1168" y="237744"/>
            <a:ext cx="1069848" cy="10607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ssets/logo_right.jpg" id="86" name="Google Shape;86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689336" y="237744"/>
            <a:ext cx="1152144" cy="1106424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0"/>
          <p:cNvSpPr/>
          <p:nvPr/>
        </p:nvSpPr>
        <p:spPr>
          <a:xfrm>
            <a:off x="1371600" y="384048"/>
            <a:ext cx="9445752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Times New Roman"/>
              <a:buNone/>
            </a:pPr>
            <a:r>
              <a:rPr b="1" i="0" lang="en-US" sz="2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IMPLEMENTATION IDEA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0"/>
          <p:cNvSpPr/>
          <p:nvPr/>
        </p:nvSpPr>
        <p:spPr>
          <a:xfrm>
            <a:off x="1139680" y="1646620"/>
            <a:ext cx="10607100" cy="493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Times New Roman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 xml:space="preserve">Tools: </a:t>
            </a:r>
            <a:r>
              <a:rPr b="0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 xml:space="preserve">Python, OpenCV, PyTorch and the Ultralytics YOLO library; model training on Google Colab / GPU.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Times New Roman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 xml:space="preserve">Dataset: </a:t>
            </a:r>
            <a:r>
              <a:rPr b="0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 xml:space="preserve">Public plate datasets (e.g., CCPD, Indian License Plates) plus synthetic tampered samples made by altering characters, spacing, fonts and adding blur or overlays.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Times New Roman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 xml:space="preserve">Detection: </a:t>
            </a:r>
            <a:r>
              <a:rPr b="0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 xml:space="preserve">Fine-tune YOLO on plate bounding boxes; crop and enhance the detected plate region.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Times New Roman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 xml:space="preserve">Recognition: </a:t>
            </a:r>
            <a:r>
              <a:rPr b="0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 xml:space="preserve">Run OCR on the crop and validate the text against plate-format rules (regex).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Times New Roman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 xml:space="preserve">Features: </a:t>
            </a:r>
            <a:r>
              <a:rPr b="0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 xml:space="preserve">CNN visual features combined with structured features: character spacing, font-height variance, format match and OCR confidence.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Times New Roman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 xml:space="preserve">Classification: </a:t>
            </a:r>
            <a:r>
              <a:rPr b="0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 xml:space="preserve">XGBoost outputs Genuine / Suspicious / Tampered; probability becomes the risk score.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Times New Roman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 xml:space="preserve">Evaluation &amp; UI: </a:t>
            </a:r>
            <a:r>
              <a:rPr b="0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 xml:space="preserve">Precision, recall, F1, mAP and confusion matrix; Streamlit/Flask dashboard shows result, score and reasons.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BEBEB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ssets/logo_left.png" id="85" name="Google Shape;85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1168" y="237744"/>
            <a:ext cx="1069848" cy="10607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ssets/logo_right.jpg" id="86" name="Google Shape;86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689336" y="237744"/>
            <a:ext cx="1152144" cy="1106424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0"/>
          <p:cNvSpPr/>
          <p:nvPr/>
        </p:nvSpPr>
        <p:spPr>
          <a:xfrm>
            <a:off x="1371600" y="384048"/>
            <a:ext cx="9445752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Times New Roman"/>
              <a:buNone/>
            </a:pPr>
            <a:r>
              <a:rPr b="1" i="0" lang="en-US" sz="2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COMPARISON OF ALGORITHMS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901" name="Table 901"/>
          <p:cNvGraphicFramePr>
            <a:graphicFrameLocks noGrp="1"/>
          </p:cNvGraphicFramePr>
          <p:nvPr/>
        </p:nvGraphicFramePr>
        <p:xfrm>
          <a:off x="777240" y="1700000"/>
          <a:ext cx="10607040" cy="3650000"/>
        </p:xfrm>
        <a:graphic>
          <a:graphicData uri="http://schemas.openxmlformats.org/drawingml/2006/table">
            <a:tbl>
              <a:tblPr firstRow="1"/>
              <a:tblGrid>
                <a:gridCol w="1900000"/>
                <a:gridCol w="3200000"/>
                <a:gridCol w="1700000"/>
                <a:gridCol w="3807040"/>
              </a:tblGrid>
              <a:tr h="450000">
                <a:tc>
                  <a:txBody>
                    <a:bodyPr/>
                    <a:lstStyle/>
                    <a:p>
                      <a:r>
                        <a:rPr lang="en-US" sz="15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Step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Algorithms Compared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Selected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Reason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00000">
                <a:tc>
                  <a:txBody>
                    <a:bodyPr/>
                    <a:lstStyle/>
                    <a:p>
                      <a:r>
                        <a:rPr lang="en-US" sz="15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Plate Detection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YOLO, Faster R-CNN, SSD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YOLO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Fast, real-time, good for small objects like plates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00000">
                <a:tc>
                  <a:txBody>
                    <a:bodyPr/>
                    <a:lstStyle/>
                    <a:p>
                      <a:r>
                        <a:rPr lang="en-US" sz="15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Text Recognition (OCR)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Tesseract, EasyOCR / CRNN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EasyOCR / CRNN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Reads blurry, tilted and varied-font plates better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00000">
                <a:tc>
                  <a:txBody>
                    <a:bodyPr/>
                    <a:lstStyle/>
                    <a:p>
                      <a:r>
                        <a:rPr lang="en-US" sz="15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Feature Extraction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Manual features, CNN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CNN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Learns spacing, font and tampering clues automatically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00000">
                <a:tc>
                  <a:txBody>
                    <a:bodyPr/>
                    <a:lstStyle/>
                    <a:p>
                      <a:r>
                        <a:rPr lang="en-US" sz="15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Classification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SVM, Random Forest, XGBoost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XGBoost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Best on mixed numeric features; high accuracy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